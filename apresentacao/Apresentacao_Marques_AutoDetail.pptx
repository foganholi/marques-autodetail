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1"/>
  </p:notesMasterIdLst>
  <p:sldIdLst>
    <p:sldId id="271" r:id="rId2"/>
    <p:sldId id="257" r:id="rId3"/>
    <p:sldId id="312" r:id="rId4"/>
    <p:sldId id="276" r:id="rId5"/>
    <p:sldId id="273" r:id="rId6"/>
    <p:sldId id="285" r:id="rId7"/>
    <p:sldId id="306" r:id="rId8"/>
    <p:sldId id="281" r:id="rId9"/>
    <p:sldId id="289" r:id="rId10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A8C6503B-508E-4DB3-A410-4BF7974041B9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13A573A1-8B29-4DAE-902C-DAC767494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155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8C30-FAFA-42AC-8A65-1ACE26945280}" type="datetime10">
              <a:rPr lang="pt-BR" smtClean="0"/>
              <a:t>20:02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118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00954-1D80-4EAA-8DB5-268236345FCA}" type="datetime10">
              <a:rPr lang="pt-BR" smtClean="0"/>
              <a:t>20:02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26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F504F-000C-4814-92CB-C191BAB3164E}" type="datetime10">
              <a:rPr lang="pt-BR" smtClean="0"/>
              <a:t>20:02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3651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8951-172D-4004-BA32-25119657ABF1}" type="datetime10">
              <a:rPr lang="pt-BR" smtClean="0"/>
              <a:t>20:02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502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F5224-7A9B-4556-8E0B-8FCDDF30CC89}" type="datetime10">
              <a:rPr lang="pt-BR" smtClean="0"/>
              <a:t>20:02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85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8EB7-075D-410D-BF20-E1AE23EC95D1}" type="datetime10">
              <a:rPr lang="pt-BR" smtClean="0"/>
              <a:t>20:02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9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8E2E-C8E2-433A-9D25-6B332F19374B}" type="datetime10">
              <a:rPr lang="pt-BR" smtClean="0"/>
              <a:t>20:02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96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B5479-C373-4997-BF1B-81BF6AEE9258}" type="datetime10">
              <a:rPr lang="pt-BR" smtClean="0"/>
              <a:t>20:02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9315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060E-7E84-4E73-B6BF-0DA5644CEC08}" type="datetime10">
              <a:rPr lang="pt-BR" smtClean="0"/>
              <a:t>20:02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245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011D-8C8A-492F-9295-95806D3C4D88}" type="datetime10">
              <a:rPr lang="pt-BR" smtClean="0"/>
              <a:t>20:02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48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6A34-B550-4361-A46C-668CD2E9AD33}" type="datetime10">
              <a:rPr lang="pt-BR" smtClean="0"/>
              <a:t>20:02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4572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6FFAE-0D97-4E29-81D6-AEABCCFC7377}" type="datetime10">
              <a:rPr lang="pt-BR" smtClean="0"/>
              <a:t>20:02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28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9297" y="6293055"/>
            <a:ext cx="327734" cy="365125"/>
          </a:xfrm>
        </p:spPr>
        <p:txBody>
          <a:bodyPr/>
          <a:lstStyle/>
          <a:p>
            <a:r>
              <a:rPr lang="pt-BR"/>
              <a:t>1</a:t>
            </a: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7E6191A-A4C2-7EF4-E58C-F07CD256196F}"/>
              </a:ext>
            </a:extLst>
          </p:cNvPr>
          <p:cNvSpPr txBox="1"/>
          <p:nvPr/>
        </p:nvSpPr>
        <p:spPr>
          <a:xfrm>
            <a:off x="310569" y="6094985"/>
            <a:ext cx="11672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Orientador: Prof. Me. Ozias G. Santos</a:t>
            </a:r>
          </a:p>
          <a:p>
            <a:r>
              <a:rPr lang="pt-BR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Disciplina: Projeto Integrador com ênfase em Dispositivos Móveis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4A368F6-7CAF-B424-AB48-652B510D4CD2}"/>
              </a:ext>
            </a:extLst>
          </p:cNvPr>
          <p:cNvSpPr/>
          <p:nvPr/>
        </p:nvSpPr>
        <p:spPr>
          <a:xfrm>
            <a:off x="9855303" y="5301787"/>
            <a:ext cx="197804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200" b="1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MARQUES</a:t>
            </a:r>
          </a:p>
          <a:p>
            <a:pPr algn="ctr"/>
            <a:r>
              <a:rPr lang="pt-BR" sz="2200" b="1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AUTODETAIL</a:t>
            </a:r>
            <a:endParaRPr lang="pt-BR" sz="22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FEA9AD6-1AA6-1840-7559-4385E9DAE1E3}"/>
              </a:ext>
            </a:extLst>
          </p:cNvPr>
          <p:cNvSpPr/>
          <p:nvPr/>
        </p:nvSpPr>
        <p:spPr>
          <a:xfrm>
            <a:off x="259708" y="1870200"/>
            <a:ext cx="1167258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80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Projeto Integrador - Dispositivos Móveis</a:t>
            </a:r>
            <a:endParaRPr lang="pt-BR" sz="28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72373B2-3148-DA5D-4CD1-6E47C19C045C}"/>
              </a:ext>
            </a:extLst>
          </p:cNvPr>
          <p:cNvSpPr txBox="1"/>
          <p:nvPr/>
        </p:nvSpPr>
        <p:spPr>
          <a:xfrm>
            <a:off x="2743200" y="5461228"/>
            <a:ext cx="73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>
                <a:latin typeface="Arial" panose="020B0604020202020204" pitchFamily="34" charset="0"/>
                <a:cs typeface="Arial" panose="020B0604020202020204" pitchFamily="34" charset="0"/>
              </a:rPr>
              <a:t>Discente: Matheus Foganholi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8B8E42C-D38F-91EA-6B5F-84EFDF301D9D}"/>
              </a:ext>
            </a:extLst>
          </p:cNvPr>
          <p:cNvSpPr txBox="1"/>
          <p:nvPr/>
        </p:nvSpPr>
        <p:spPr>
          <a:xfrm>
            <a:off x="3102729" y="3807440"/>
            <a:ext cx="6604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Aplicativo Android para consulta de serviços e agendamento em empresas de estética automotiva.</a:t>
            </a:r>
            <a:endParaRPr lang="pt-BR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C2F451D-BE55-0564-72F7-A2ED524B4A22}"/>
              </a:ext>
            </a:extLst>
          </p:cNvPr>
          <p:cNvSpPr txBox="1"/>
          <p:nvPr/>
        </p:nvSpPr>
        <p:spPr>
          <a:xfrm>
            <a:off x="3047999" y="1462005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</a:pPr>
            <a:r>
              <a:rPr lang="pt-BR" b="1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Turma: BSI</a:t>
            </a:r>
            <a:endParaRPr lang="pt-BR" b="1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459C2E7B-ED18-19E6-0D37-B1832626E0EA}"/>
              </a:ext>
            </a:extLst>
          </p:cNvPr>
          <p:cNvGrpSpPr/>
          <p:nvPr/>
        </p:nvGrpSpPr>
        <p:grpSpPr>
          <a:xfrm>
            <a:off x="-3" y="35931"/>
            <a:ext cx="12192003" cy="1007515"/>
            <a:chOff x="-3" y="35931"/>
            <a:chExt cx="12192003" cy="1007515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9AABEA6E-AE48-21BF-7F6F-E8D8AFA5D463}"/>
                </a:ext>
              </a:extLst>
            </p:cNvPr>
            <p:cNvCxnSpPr/>
            <p:nvPr/>
          </p:nvCxnSpPr>
          <p:spPr>
            <a:xfrm>
              <a:off x="0" y="995070"/>
              <a:ext cx="12192000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017657E-CCD8-C27F-493A-F1EFE14D0D5D}"/>
                </a:ext>
              </a:extLst>
            </p:cNvPr>
            <p:cNvGrpSpPr/>
            <p:nvPr/>
          </p:nvGrpSpPr>
          <p:grpSpPr>
            <a:xfrm>
              <a:off x="-3" y="35931"/>
              <a:ext cx="12192000" cy="1007515"/>
              <a:chOff x="-3" y="35931"/>
              <a:chExt cx="12192000" cy="1007515"/>
            </a:xfrm>
          </p:grpSpPr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D2511C0B-730B-1693-9F9C-3ABE09E32E2E}"/>
                  </a:ext>
                </a:extLst>
              </p:cNvPr>
              <p:cNvSpPr txBox="1"/>
              <p:nvPr/>
            </p:nvSpPr>
            <p:spPr>
              <a:xfrm>
                <a:off x="1676401" y="89339"/>
                <a:ext cx="903713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800">
                    <a:latin typeface="Arial" panose="020B0604020202020204" pitchFamily="34" charset="0"/>
                    <a:cs typeface="Arial" panose="020B0604020202020204" pitchFamily="34" charset="0"/>
                  </a:rPr>
                  <a:t>Centro Universitário SENAC</a:t>
                </a:r>
              </a:p>
              <a:p>
                <a:pPr algn="ctr"/>
                <a:r>
                  <a:rPr lang="pt-BR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Bacharelado em Sistemas de Informação</a:t>
                </a:r>
              </a:p>
            </p:txBody>
          </p:sp>
          <p:pic>
            <p:nvPicPr>
              <p:cNvPr id="22" name="Gráfico 1">
                <a:extLst>
                  <a:ext uri="{FF2B5EF4-FFF2-40B4-BE49-F238E27FC236}">
                    <a16:creationId xmlns:a16="http://schemas.microsoft.com/office/drawing/2014/main" id="{B4CF2CED-7810-BEBD-E81E-2EE3EE5B86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t="25576" b="24027"/>
              <a:stretch/>
            </p:blipFill>
            <p:spPr bwMode="auto">
              <a:xfrm>
                <a:off x="0" y="35931"/>
                <a:ext cx="1902467" cy="959139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cxnSp>
            <p:nvCxnSpPr>
              <p:cNvPr id="23" name="Conector reto 22">
                <a:extLst>
                  <a:ext uri="{FF2B5EF4-FFF2-40B4-BE49-F238E27FC236}">
                    <a16:creationId xmlns:a16="http://schemas.microsoft.com/office/drawing/2014/main" id="{62E0A5BE-0ECD-0975-AB6C-F1782468A471}"/>
                  </a:ext>
                </a:extLst>
              </p:cNvPr>
              <p:cNvCxnSpPr/>
              <p:nvPr/>
            </p:nvCxnSpPr>
            <p:spPr>
              <a:xfrm>
                <a:off x="-3" y="35931"/>
                <a:ext cx="12192000" cy="0"/>
              </a:xfrm>
              <a:prstGeom prst="line">
                <a:avLst/>
              </a:prstGeom>
              <a:ln w="444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4" name="Picture 2" descr="Resultado de imagem para BANDEIRA DO BRASIL">
                <a:extLst>
                  <a:ext uri="{FF2B5EF4-FFF2-40B4-BE49-F238E27FC236}">
                    <a16:creationId xmlns:a16="http://schemas.microsoft.com/office/drawing/2014/main" id="{C4D4D330-8612-B34E-5DFD-54C34D72FC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13530" y="76023"/>
                <a:ext cx="1455571" cy="9048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2AA42D8C-F6AF-26BE-4490-321F157604A1}"/>
              </a:ext>
            </a:extLst>
          </p:cNvPr>
          <p:cNvCxnSpPr/>
          <p:nvPr/>
        </p:nvCxnSpPr>
        <p:spPr>
          <a:xfrm>
            <a:off x="4811" y="6715383"/>
            <a:ext cx="1219200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AC3D3EB3-33C5-0A54-5A8C-51F7CB5C3278}"/>
              </a:ext>
            </a:extLst>
          </p:cNvPr>
          <p:cNvCxnSpPr/>
          <p:nvPr/>
        </p:nvCxnSpPr>
        <p:spPr>
          <a:xfrm>
            <a:off x="-3" y="6094592"/>
            <a:ext cx="12192000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3DA6688-8089-C476-0184-E65ABCA16C85}"/>
              </a:ext>
            </a:extLst>
          </p:cNvPr>
          <p:cNvSpPr txBox="1"/>
          <p:nvPr/>
        </p:nvSpPr>
        <p:spPr>
          <a:xfrm>
            <a:off x="1516215" y="3183106"/>
            <a:ext cx="97779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>
                <a:latin typeface="Arial" panose="020B0604020202020204" pitchFamily="34" charset="0"/>
                <a:cs typeface="Arial" panose="020B0604020202020204" pitchFamily="34" charset="0"/>
              </a:rPr>
              <a:t>Marques AutoDetail</a:t>
            </a:r>
            <a:endParaRPr lang="pt-BR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2DE6149-4579-48D1-5497-272D27D7A661}"/>
              </a:ext>
            </a:extLst>
          </p:cNvPr>
          <p:cNvSpPr txBox="1"/>
          <p:nvPr/>
        </p:nvSpPr>
        <p:spPr>
          <a:xfrm>
            <a:off x="5195294" y="4438579"/>
            <a:ext cx="241981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00">
                <a:latin typeface="Arial" panose="020B0604020202020204" pitchFamily="34" charset="0"/>
                <a:cs typeface="Arial" panose="020B0604020202020204" pitchFamily="34" charset="0"/>
              </a:rPr>
              <a:t>Equipe: Grupo I</a:t>
            </a:r>
            <a:endParaRPr lang="pt-BR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54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855C-73E9-1384-621F-3F91020EC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aixaDeTexto 20">
            <a:extLst>
              <a:ext uri="{FF2B5EF4-FFF2-40B4-BE49-F238E27FC236}">
                <a16:creationId xmlns:a16="http://schemas.microsoft.com/office/drawing/2014/main" id="{E69E5F59-4F6A-987E-316C-D0BE18BD46DC}"/>
              </a:ext>
            </a:extLst>
          </p:cNvPr>
          <p:cNvSpPr txBox="1"/>
          <p:nvPr/>
        </p:nvSpPr>
        <p:spPr>
          <a:xfrm>
            <a:off x="124686" y="959595"/>
            <a:ext cx="12191995" cy="3910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1. Apresentação geral</a:t>
            </a:r>
          </a:p>
          <a:p>
            <a:pPr>
              <a:lnSpc>
                <a:spcPct val="150000"/>
              </a:lnSpc>
            </a:pP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2. Justificativa e objetivos</a:t>
            </a:r>
          </a:p>
          <a:p>
            <a:pPr>
              <a:lnSpc>
                <a:spcPct val="150000"/>
              </a:lnSpc>
            </a:pP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3. Guia de estilos</a:t>
            </a:r>
          </a:p>
          <a:p>
            <a:pPr>
              <a:lnSpc>
                <a:spcPct val="150000"/>
              </a:lnSpc>
            </a:pP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4. Heurísticas de usabilidade</a:t>
            </a:r>
          </a:p>
          <a:p>
            <a:pPr>
              <a:lnSpc>
                <a:spcPct val="150000"/>
              </a:lnSpc>
            </a:pP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5. Interfaces e fluxo principal</a:t>
            </a:r>
          </a:p>
          <a:p>
            <a:pPr>
              <a:lnSpc>
                <a:spcPct val="150000"/>
              </a:lnSpc>
            </a:pP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6. Banco de dados e arquitetura técnica</a:t>
            </a:r>
          </a:p>
          <a:p>
            <a:pPr>
              <a:lnSpc>
                <a:spcPct val="150000"/>
              </a:lnSpc>
            </a:pP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7. Testes de usabilidade e resultados</a:t>
            </a:r>
            <a:endParaRPr lang="pt-BR" sz="2400" dirty="0">
              <a:latin typeface="Arial" panose="020B060402020202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021BD26-E71C-9E35-C473-83284B843B7D}"/>
              </a:ext>
            </a:extLst>
          </p:cNvPr>
          <p:cNvSpPr/>
          <p:nvPr/>
        </p:nvSpPr>
        <p:spPr>
          <a:xfrm>
            <a:off x="8752760" y="3624680"/>
            <a:ext cx="197804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200" b="1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MARQUES</a:t>
            </a:r>
          </a:p>
          <a:p>
            <a:pPr algn="ctr"/>
            <a:r>
              <a:rPr lang="pt-BR" sz="2200" b="1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AUTODETAIL</a:t>
            </a:r>
            <a:endParaRPr lang="pt-BR" sz="22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" panose="020B0604020202020204" pitchFamily="34" charset="0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E44CEE2-D6BD-B2AF-17F4-18DAA9681DCC}"/>
              </a:ext>
            </a:extLst>
          </p:cNvPr>
          <p:cNvGrpSpPr/>
          <p:nvPr/>
        </p:nvGrpSpPr>
        <p:grpSpPr>
          <a:xfrm>
            <a:off x="-3" y="35931"/>
            <a:ext cx="12192003" cy="959139"/>
            <a:chOff x="-3" y="35931"/>
            <a:chExt cx="12192003" cy="959139"/>
          </a:xfrm>
        </p:grpSpPr>
        <p:cxnSp>
          <p:nvCxnSpPr>
            <p:cNvPr id="3" name="Conector reto 2">
              <a:extLst>
                <a:ext uri="{FF2B5EF4-FFF2-40B4-BE49-F238E27FC236}">
                  <a16:creationId xmlns:a16="http://schemas.microsoft.com/office/drawing/2014/main" id="{A5AF3128-C595-3D44-68E9-A2C64A0E8428}"/>
                </a:ext>
              </a:extLst>
            </p:cNvPr>
            <p:cNvCxnSpPr/>
            <p:nvPr/>
          </p:nvCxnSpPr>
          <p:spPr>
            <a:xfrm>
              <a:off x="0" y="995070"/>
              <a:ext cx="12192000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6528C265-9C3A-60C0-9756-9980DF45EF81}"/>
                </a:ext>
              </a:extLst>
            </p:cNvPr>
            <p:cNvGrpSpPr/>
            <p:nvPr/>
          </p:nvGrpSpPr>
          <p:grpSpPr>
            <a:xfrm>
              <a:off x="-3" y="35931"/>
              <a:ext cx="12192000" cy="959139"/>
              <a:chOff x="-3" y="35931"/>
              <a:chExt cx="12192000" cy="959139"/>
            </a:xfrm>
          </p:grpSpPr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B0AB86A-C558-B681-DE3B-D2DB6CCCC79B}"/>
                  </a:ext>
                </a:extLst>
              </p:cNvPr>
              <p:cNvSpPr txBox="1"/>
              <p:nvPr/>
            </p:nvSpPr>
            <p:spPr>
              <a:xfrm>
                <a:off x="1799022" y="256348"/>
                <a:ext cx="89145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Sumário da Apresentação</a:t>
                </a:r>
              </a:p>
            </p:txBody>
          </p:sp>
          <p:pic>
            <p:nvPicPr>
              <p:cNvPr id="6" name="Gráfico 1">
                <a:extLst>
                  <a:ext uri="{FF2B5EF4-FFF2-40B4-BE49-F238E27FC236}">
                    <a16:creationId xmlns:a16="http://schemas.microsoft.com/office/drawing/2014/main" id="{4C13A023-50D9-D4FC-F817-6628378F03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t="25576" b="24027"/>
              <a:stretch/>
            </p:blipFill>
            <p:spPr bwMode="auto">
              <a:xfrm>
                <a:off x="0" y="35931"/>
                <a:ext cx="1902467" cy="959139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cxnSp>
            <p:nvCxnSpPr>
              <p:cNvPr id="7" name="Conector reto 6">
                <a:extLst>
                  <a:ext uri="{FF2B5EF4-FFF2-40B4-BE49-F238E27FC236}">
                    <a16:creationId xmlns:a16="http://schemas.microsoft.com/office/drawing/2014/main" id="{C102C709-6428-9D46-7B3E-9951A6394A12}"/>
                  </a:ext>
                </a:extLst>
              </p:cNvPr>
              <p:cNvCxnSpPr/>
              <p:nvPr/>
            </p:nvCxnSpPr>
            <p:spPr>
              <a:xfrm>
                <a:off x="-3" y="35931"/>
                <a:ext cx="12192000" cy="0"/>
              </a:xfrm>
              <a:prstGeom prst="line">
                <a:avLst/>
              </a:prstGeom>
              <a:ln w="444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" name="Picture 2" descr="Resultado de imagem para BANDEIRA DO BRASIL">
                <a:extLst>
                  <a:ext uri="{FF2B5EF4-FFF2-40B4-BE49-F238E27FC236}">
                    <a16:creationId xmlns:a16="http://schemas.microsoft.com/office/drawing/2014/main" id="{30ECF14C-480D-4303-0935-3F9C25A6D3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13530" y="76023"/>
                <a:ext cx="1455571" cy="9048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309450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A7802-889B-D0B0-C000-7AF9B99A5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E4DF63C-8CE5-10BD-DACB-156BD2DE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9297" y="6293055"/>
            <a:ext cx="327734" cy="365125"/>
          </a:xfrm>
        </p:spPr>
        <p:txBody>
          <a:bodyPr/>
          <a:lstStyle/>
          <a:p>
            <a:r>
              <a:rPr lang="pt-BR"/>
              <a:t>3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430BD46-C7F1-BDEB-F552-2ED75DB43C62}"/>
              </a:ext>
            </a:extLst>
          </p:cNvPr>
          <p:cNvSpPr txBox="1"/>
          <p:nvPr/>
        </p:nvSpPr>
        <p:spPr>
          <a:xfrm>
            <a:off x="174448" y="1089712"/>
            <a:ext cx="11672583" cy="1221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17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 Marques AutoDetail conecta clientes a empresas de estética automotiva.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17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 usuário pode cadastrar-se, autenticar-se, consultar empresas, serviços e horários.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17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 aplicativo permite criar e acompanhar agendamentos pelo celular.</a:t>
            </a:r>
            <a:endParaRPr lang="pt-BR" sz="1700" i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07177CD-1692-FAA7-88BE-F6E6F59D030E}"/>
              </a:ext>
            </a:extLst>
          </p:cNvPr>
          <p:cNvSpPr/>
          <p:nvPr/>
        </p:nvSpPr>
        <p:spPr>
          <a:xfrm>
            <a:off x="8581089" y="5149754"/>
            <a:ext cx="1798890" cy="43088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200" b="1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API ONLINE</a:t>
            </a:r>
            <a:endParaRPr lang="pt-BR" sz="22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D8D1FD4-B7DE-F503-96A9-29473E1D7546}"/>
              </a:ext>
            </a:extLst>
          </p:cNvPr>
          <p:cNvGrpSpPr/>
          <p:nvPr/>
        </p:nvGrpSpPr>
        <p:grpSpPr>
          <a:xfrm>
            <a:off x="-3" y="35931"/>
            <a:ext cx="12192003" cy="959139"/>
            <a:chOff x="-3" y="35931"/>
            <a:chExt cx="12192003" cy="959139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0FB73971-D601-EDE3-0D72-3F9C45B17CFF}"/>
                </a:ext>
              </a:extLst>
            </p:cNvPr>
            <p:cNvCxnSpPr/>
            <p:nvPr/>
          </p:nvCxnSpPr>
          <p:spPr>
            <a:xfrm>
              <a:off x="0" y="995070"/>
              <a:ext cx="12192000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1B62D7DD-1492-1340-BC16-7076D8ABEE52}"/>
                </a:ext>
              </a:extLst>
            </p:cNvPr>
            <p:cNvGrpSpPr/>
            <p:nvPr/>
          </p:nvGrpSpPr>
          <p:grpSpPr>
            <a:xfrm>
              <a:off x="-3" y="35931"/>
              <a:ext cx="12192000" cy="959139"/>
              <a:chOff x="-3" y="35931"/>
              <a:chExt cx="12192000" cy="959139"/>
            </a:xfrm>
          </p:grpSpPr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1AA80AD6-B0FC-7660-128C-243C6D0E3B00}"/>
                  </a:ext>
                </a:extLst>
              </p:cNvPr>
              <p:cNvSpPr txBox="1"/>
              <p:nvPr/>
            </p:nvSpPr>
            <p:spPr>
              <a:xfrm>
                <a:off x="1854440" y="144759"/>
                <a:ext cx="4636925" cy="658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1. Apresentação geral</a:t>
                </a:r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4" name="Gráfico 1">
                <a:extLst>
                  <a:ext uri="{FF2B5EF4-FFF2-40B4-BE49-F238E27FC236}">
                    <a16:creationId xmlns:a16="http://schemas.microsoft.com/office/drawing/2014/main" id="{A661AE4C-9364-A37A-8947-22D81B4290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t="25576" b="24027"/>
              <a:stretch/>
            </p:blipFill>
            <p:spPr bwMode="auto">
              <a:xfrm>
                <a:off x="0" y="35931"/>
                <a:ext cx="1902467" cy="959139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cxnSp>
            <p:nvCxnSpPr>
              <p:cNvPr id="7" name="Conector reto 6">
                <a:extLst>
                  <a:ext uri="{FF2B5EF4-FFF2-40B4-BE49-F238E27FC236}">
                    <a16:creationId xmlns:a16="http://schemas.microsoft.com/office/drawing/2014/main" id="{C64F0CDF-418B-C89E-696C-6FDCB5AD7621}"/>
                  </a:ext>
                </a:extLst>
              </p:cNvPr>
              <p:cNvCxnSpPr/>
              <p:nvPr/>
            </p:nvCxnSpPr>
            <p:spPr>
              <a:xfrm>
                <a:off x="-3" y="35931"/>
                <a:ext cx="12192000" cy="0"/>
              </a:xfrm>
              <a:prstGeom prst="line">
                <a:avLst/>
              </a:prstGeom>
              <a:ln w="444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" name="Picture 2" descr="Resultado de imagem para BANDEIRA DO BRASIL">
                <a:extLst>
                  <a:ext uri="{FF2B5EF4-FFF2-40B4-BE49-F238E27FC236}">
                    <a16:creationId xmlns:a16="http://schemas.microsoft.com/office/drawing/2014/main" id="{23A536CC-D50C-6A1A-6A3C-BD10FFB5F0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13530" y="76023"/>
                <a:ext cx="1455571" cy="9048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97795CC7-95CD-57C9-40F8-A2FD73B2569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3492500"/>
            <a:ext cx="4508500" cy="26035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9D592067-4410-B34B-114A-FA8B9C3FBD5D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500" y="3492500"/>
            <a:ext cx="47625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997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9297" y="6293055"/>
            <a:ext cx="327734" cy="365125"/>
          </a:xfrm>
        </p:spPr>
        <p:txBody>
          <a:bodyPr/>
          <a:lstStyle/>
          <a:p>
            <a:r>
              <a:rPr lang="pt-BR"/>
              <a:t>4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4812761-896F-6E7B-6317-AA9C87B38A0A}"/>
              </a:ext>
            </a:extLst>
          </p:cNvPr>
          <p:cNvSpPr txBox="1"/>
          <p:nvPr/>
        </p:nvSpPr>
        <p:spPr>
          <a:xfrm>
            <a:off x="298969" y="1875453"/>
            <a:ext cx="4077089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95B2E89-DFBD-BE9B-F3AA-7E9901FD8093}"/>
              </a:ext>
            </a:extLst>
          </p:cNvPr>
          <p:cNvSpPr txBox="1"/>
          <p:nvPr/>
        </p:nvSpPr>
        <p:spPr>
          <a:xfrm>
            <a:off x="259706" y="1681512"/>
            <a:ext cx="11672583" cy="5113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000">
                <a:latin typeface="Arial" panose="020B0604020202020204" pitchFamily="34" charset="0"/>
                <a:ea typeface="Arial" panose="020B0604020202020204" pitchFamily="34" charset="0"/>
              </a:rPr>
              <a:t>A busca por serviços automotivos geralmente depende de contatos dispersos e atendimento manual. O projeto centraliza informações e facilita o agendamento.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pt-BR" sz="200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000">
                <a:latin typeface="Arial" panose="020B0604020202020204" pitchFamily="34" charset="0"/>
                <a:ea typeface="Arial" panose="020B0604020202020204" pitchFamily="34" charset="0"/>
              </a:rPr>
              <a:t>Objetivo geral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000">
                <a:latin typeface="Arial" panose="020B0604020202020204" pitchFamily="34" charset="0"/>
                <a:ea typeface="Arial" panose="020B0604020202020204" pitchFamily="34" charset="0"/>
              </a:rPr>
              <a:t>Disponibilizar uma solução móvel segura para localizar empresas e agendar serviços.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pt-BR" sz="200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000">
                <a:latin typeface="Arial" panose="020B0604020202020204" pitchFamily="34" charset="0"/>
                <a:ea typeface="Arial" panose="020B0604020202020204" pitchFamily="34" charset="0"/>
              </a:rPr>
              <a:t>Objetivos específicos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000">
                <a:latin typeface="Arial" panose="020B0604020202020204" pitchFamily="34" charset="0"/>
                <a:ea typeface="Arial" panose="020B0604020202020204" pitchFamily="34" charset="0"/>
              </a:rPr>
              <a:t>Cadastro e login com JWT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000">
                <a:latin typeface="Arial" panose="020B0604020202020204" pitchFamily="34" charset="0"/>
                <a:ea typeface="Arial" panose="020B0604020202020204" pitchFamily="34" charset="0"/>
              </a:rPr>
              <a:t>Consulta de empresas, serviços e horários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000">
                <a:latin typeface="Arial" panose="020B0604020202020204" pitchFamily="34" charset="0"/>
                <a:ea typeface="Arial" panose="020B0604020202020204" pitchFamily="34" charset="0"/>
              </a:rPr>
              <a:t>Criação e acompanhamento de agendamentos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000">
                <a:latin typeface="Arial" panose="020B0604020202020204" pitchFamily="34" charset="0"/>
                <a:ea typeface="Arial" panose="020B0604020202020204" pitchFamily="34" charset="0"/>
              </a:rPr>
              <a:t>Persistência online no PostgreSQL/Supabase</a:t>
            </a:r>
            <a:endParaRPr lang="pt-BR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C065702-9CA1-5095-F20B-DA8C2821F2FA}"/>
              </a:ext>
            </a:extLst>
          </p:cNvPr>
          <p:cNvSpPr/>
          <p:nvPr/>
        </p:nvSpPr>
        <p:spPr>
          <a:xfrm>
            <a:off x="6992565" y="2967335"/>
            <a:ext cx="253627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b="1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FOCO NO CLIENTE</a:t>
            </a:r>
            <a:endParaRPr lang="pt-BR" sz="20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" panose="020B0604020202020204" pitchFamily="34" charset="0"/>
            </a:endParaRPr>
          </a:p>
        </p:txBody>
      </p:sp>
      <p:pic>
        <p:nvPicPr>
          <p:cNvPr id="3" name="Gráfico 1">
            <a:extLst>
              <a:ext uri="{FF2B5EF4-FFF2-40B4-BE49-F238E27FC236}">
                <a16:creationId xmlns:a16="http://schemas.microsoft.com/office/drawing/2014/main" id="{E2DEA3C8-CFF6-97A1-2B86-7C88F052B84F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5576" b="24027"/>
          <a:stretch/>
        </p:blipFill>
        <p:spPr bwMode="auto">
          <a:xfrm>
            <a:off x="0" y="35931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1E07D2E2-B0A7-E373-8078-39BF7C8A5972}"/>
              </a:ext>
            </a:extLst>
          </p:cNvPr>
          <p:cNvGrpSpPr/>
          <p:nvPr/>
        </p:nvGrpSpPr>
        <p:grpSpPr>
          <a:xfrm>
            <a:off x="-3" y="35931"/>
            <a:ext cx="12192003" cy="959139"/>
            <a:chOff x="-3" y="35931"/>
            <a:chExt cx="12192003" cy="959139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947AFC1A-0AEA-6DAD-4E5A-0BB6C82B1E1D}"/>
                </a:ext>
              </a:extLst>
            </p:cNvPr>
            <p:cNvCxnSpPr/>
            <p:nvPr/>
          </p:nvCxnSpPr>
          <p:spPr>
            <a:xfrm>
              <a:off x="0" y="995070"/>
              <a:ext cx="12192000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6723A8E1-D1CB-CBE8-1E50-3C824D84ABDB}"/>
                </a:ext>
              </a:extLst>
            </p:cNvPr>
            <p:cNvGrpSpPr/>
            <p:nvPr/>
          </p:nvGrpSpPr>
          <p:grpSpPr>
            <a:xfrm>
              <a:off x="-3" y="35931"/>
              <a:ext cx="12192000" cy="959139"/>
              <a:chOff x="-3" y="35931"/>
              <a:chExt cx="12192000" cy="959139"/>
            </a:xfrm>
          </p:grpSpPr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F27D0FBF-79DC-AEA5-12EC-259F6E132C79}"/>
                  </a:ext>
                </a:extLst>
              </p:cNvPr>
              <p:cNvSpPr txBox="1"/>
              <p:nvPr/>
            </p:nvSpPr>
            <p:spPr>
              <a:xfrm>
                <a:off x="1854440" y="144759"/>
                <a:ext cx="7858358" cy="658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2. Justificativa  e objetivos do Projeto </a:t>
                </a:r>
              </a:p>
            </p:txBody>
          </p:sp>
          <p:pic>
            <p:nvPicPr>
              <p:cNvPr id="12" name="Gráfico 1">
                <a:extLst>
                  <a:ext uri="{FF2B5EF4-FFF2-40B4-BE49-F238E27FC236}">
                    <a16:creationId xmlns:a16="http://schemas.microsoft.com/office/drawing/2014/main" id="{189BDA5D-B13D-21C9-30EB-AFB646ACD2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t="25576" b="24027"/>
              <a:stretch/>
            </p:blipFill>
            <p:spPr bwMode="auto">
              <a:xfrm>
                <a:off x="0" y="35931"/>
                <a:ext cx="1902467" cy="959139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cxnSp>
            <p:nvCxnSpPr>
              <p:cNvPr id="13" name="Conector reto 12">
                <a:extLst>
                  <a:ext uri="{FF2B5EF4-FFF2-40B4-BE49-F238E27FC236}">
                    <a16:creationId xmlns:a16="http://schemas.microsoft.com/office/drawing/2014/main" id="{6C2B8748-9897-7F25-4342-9C444FE2904D}"/>
                  </a:ext>
                </a:extLst>
              </p:cNvPr>
              <p:cNvCxnSpPr/>
              <p:nvPr/>
            </p:nvCxnSpPr>
            <p:spPr>
              <a:xfrm>
                <a:off x="-3" y="35931"/>
                <a:ext cx="12192000" cy="0"/>
              </a:xfrm>
              <a:prstGeom prst="line">
                <a:avLst/>
              </a:prstGeom>
              <a:ln w="444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" name="Picture 2" descr="Resultado de imagem para BANDEIRA DO BRASIL">
                <a:extLst>
                  <a:ext uri="{FF2B5EF4-FFF2-40B4-BE49-F238E27FC236}">
                    <a16:creationId xmlns:a16="http://schemas.microsoft.com/office/drawing/2014/main" id="{EBA9854D-87F7-C6CE-B298-5617B44145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99675" y="76023"/>
                <a:ext cx="1455571" cy="9048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638635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9297" y="6293055"/>
            <a:ext cx="327734" cy="365125"/>
          </a:xfrm>
        </p:spPr>
        <p:txBody>
          <a:bodyPr/>
          <a:lstStyle/>
          <a:p>
            <a:r>
              <a:rPr lang="pt-BR"/>
              <a:t>5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1BFC410-4BD6-C7D5-FD36-6F26051D6355}"/>
              </a:ext>
            </a:extLst>
          </p:cNvPr>
          <p:cNvSpPr/>
          <p:nvPr/>
        </p:nvSpPr>
        <p:spPr>
          <a:xfrm>
            <a:off x="763821" y="5768288"/>
            <a:ext cx="276870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b="1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IDENTIDADE VISUAL</a:t>
            </a:r>
            <a:endParaRPr lang="pt-BR" sz="20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DDF3C7-937A-94C9-87FF-06CB22FAFCF1}"/>
              </a:ext>
            </a:extLst>
          </p:cNvPr>
          <p:cNvSpPr txBox="1"/>
          <p:nvPr/>
        </p:nvSpPr>
        <p:spPr>
          <a:xfrm>
            <a:off x="306255" y="1103897"/>
            <a:ext cx="11579484" cy="294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Interface Android nativa em Kotlin e XML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Azul como cor principal: confiança e tecnologia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Laranja como destaque: energia e setor automotivo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Fundo claro, contraste elevado e botões objetivos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Tipografia legível e navegação direta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Ícones reconhecíveis e mensagens de retorno</a:t>
            </a:r>
            <a:endParaRPr lang="pt-BR" sz="2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3" name="Gráfico 1">
            <a:extLst>
              <a:ext uri="{FF2B5EF4-FFF2-40B4-BE49-F238E27FC236}">
                <a16:creationId xmlns:a16="http://schemas.microsoft.com/office/drawing/2014/main" id="{83639BDE-71B0-E1DF-47E2-36B3BE89B186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5576" b="24027"/>
          <a:stretch/>
        </p:blipFill>
        <p:spPr bwMode="auto">
          <a:xfrm>
            <a:off x="0" y="35931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9032BE3-E9E0-EAEF-D986-3436B353A98B}"/>
              </a:ext>
            </a:extLst>
          </p:cNvPr>
          <p:cNvGrpSpPr/>
          <p:nvPr/>
        </p:nvGrpSpPr>
        <p:grpSpPr>
          <a:xfrm>
            <a:off x="-3" y="35931"/>
            <a:ext cx="12787089" cy="959139"/>
            <a:chOff x="-3" y="35931"/>
            <a:chExt cx="12787089" cy="959139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91264DDB-4543-71FF-FE35-BCD32687A5C7}"/>
                </a:ext>
              </a:extLst>
            </p:cNvPr>
            <p:cNvCxnSpPr/>
            <p:nvPr/>
          </p:nvCxnSpPr>
          <p:spPr>
            <a:xfrm>
              <a:off x="0" y="995070"/>
              <a:ext cx="12192000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46AE937D-C39E-3A5E-CE97-01814F86E1DC}"/>
                </a:ext>
              </a:extLst>
            </p:cNvPr>
            <p:cNvGrpSpPr/>
            <p:nvPr/>
          </p:nvGrpSpPr>
          <p:grpSpPr>
            <a:xfrm>
              <a:off x="-3" y="35931"/>
              <a:ext cx="12787089" cy="959139"/>
              <a:chOff x="-3" y="35931"/>
              <a:chExt cx="12787089" cy="959139"/>
            </a:xfrm>
          </p:grpSpPr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2FB9A6AF-25DF-3804-7065-489CE87885FC}"/>
                  </a:ext>
                </a:extLst>
              </p:cNvPr>
              <p:cNvSpPr txBox="1"/>
              <p:nvPr/>
            </p:nvSpPr>
            <p:spPr>
              <a:xfrm>
                <a:off x="1854440" y="144759"/>
                <a:ext cx="10932646" cy="658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3. Guia de estilos</a:t>
                </a:r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7" name="Gráfico 1">
                <a:extLst>
                  <a:ext uri="{FF2B5EF4-FFF2-40B4-BE49-F238E27FC236}">
                    <a16:creationId xmlns:a16="http://schemas.microsoft.com/office/drawing/2014/main" id="{4FAE36D3-6C49-43DD-3815-E6D97DE2AC7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t="25576" b="24027"/>
              <a:stretch/>
            </p:blipFill>
            <p:spPr bwMode="auto">
              <a:xfrm>
                <a:off x="0" y="35931"/>
                <a:ext cx="1902467" cy="959139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cxnSp>
            <p:nvCxnSpPr>
              <p:cNvPr id="18" name="Conector reto 17">
                <a:extLst>
                  <a:ext uri="{FF2B5EF4-FFF2-40B4-BE49-F238E27FC236}">
                    <a16:creationId xmlns:a16="http://schemas.microsoft.com/office/drawing/2014/main" id="{88541A28-E118-A237-7E54-F3C14BA8CF16}"/>
                  </a:ext>
                </a:extLst>
              </p:cNvPr>
              <p:cNvCxnSpPr/>
              <p:nvPr/>
            </p:nvCxnSpPr>
            <p:spPr>
              <a:xfrm>
                <a:off x="-3" y="35931"/>
                <a:ext cx="12192000" cy="0"/>
              </a:xfrm>
              <a:prstGeom prst="line">
                <a:avLst/>
              </a:prstGeom>
              <a:ln w="444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" name="Picture 2" descr="Resultado de imagem para BANDEIRA DO BRASIL">
                <a:extLst>
                  <a:ext uri="{FF2B5EF4-FFF2-40B4-BE49-F238E27FC236}">
                    <a16:creationId xmlns:a16="http://schemas.microsoft.com/office/drawing/2014/main" id="{9422A785-A9F2-7865-B5DC-C0CE47BD7D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13530" y="76023"/>
                <a:ext cx="1455571" cy="9048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7808B66B-B325-C758-60D9-788B8E2A2A7A}"/>
              </a:ext>
            </a:extLst>
          </p:cNvPr>
          <p:cNvSpPr/>
          <p:nvPr/>
        </p:nvSpPr>
        <p:spPr>
          <a:xfrm>
            <a:off x="7048500" y="2349500"/>
            <a:ext cx="4191000" cy="1143000"/>
          </a:xfrm>
          <a:prstGeom prst="rect">
            <a:avLst/>
          </a:prstGeom>
          <a:solidFill>
            <a:srgbClr val="B5D6EB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14300" rIns="152400" bIns="101600" rtlCol="0" anchor="ctr"/>
          <a:lstStyle/>
          <a:p>
            <a:pPr algn="ctr"/>
            <a:r>
              <a:rPr lang="pt-BR" sz="1900" b="1">
                <a:solidFill>
                  <a:srgbClr val="000000"/>
                </a:solidFill>
                <a:latin typeface="Arial" panose="020B0604020202020204" pitchFamily="34" charset="0"/>
              </a:rPr>
              <a:t>MARQUES AUTODETAIL</a:t>
            </a:r>
          </a:p>
          <a:p>
            <a:pPr algn="ctr"/>
            <a:r>
              <a:rPr lang="pt-BR" sz="1500">
                <a:solidFill>
                  <a:srgbClr val="000000"/>
                </a:solidFill>
                <a:latin typeface="Arial" panose="020B0604020202020204" pitchFamily="34" charset="0"/>
              </a:rPr>
              <a:t>Aplicativo móvel de estética automotiva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9C1A413-5E21-1CA9-F078-5A055604841F}"/>
              </a:ext>
            </a:extLst>
          </p:cNvPr>
          <p:cNvSpPr/>
          <p:nvPr/>
        </p:nvSpPr>
        <p:spPr>
          <a:xfrm>
            <a:off x="7048500" y="3746500"/>
            <a:ext cx="1968500" cy="1079500"/>
          </a:xfrm>
          <a:prstGeom prst="rect">
            <a:avLst/>
          </a:prstGeom>
          <a:solidFill>
            <a:srgbClr val="F7EBDD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14300" rIns="152400" bIns="101600" rtlCol="0" anchor="ctr"/>
          <a:lstStyle/>
          <a:p>
            <a:pPr algn="ctr"/>
            <a:r>
              <a:rPr lang="pt-BR" sz="1900" b="1">
                <a:solidFill>
                  <a:srgbClr val="000000"/>
                </a:solidFill>
                <a:latin typeface="Arial" panose="020B0604020202020204" pitchFamily="34" charset="0"/>
              </a:rPr>
              <a:t>AZUL</a:t>
            </a:r>
          </a:p>
          <a:p>
            <a:pPr algn="ctr"/>
            <a:r>
              <a:rPr lang="pt-BR" sz="1500">
                <a:solidFill>
                  <a:srgbClr val="000000"/>
                </a:solidFill>
                <a:latin typeface="Arial" panose="020B0604020202020204" pitchFamily="34" charset="0"/>
              </a:rPr>
              <a:t>Navegação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22708F3-8873-D218-C9E7-DD48E09D90DF}"/>
              </a:ext>
            </a:extLst>
          </p:cNvPr>
          <p:cNvSpPr/>
          <p:nvPr/>
        </p:nvSpPr>
        <p:spPr>
          <a:xfrm>
            <a:off x="9271000" y="3746500"/>
            <a:ext cx="1968500" cy="1079500"/>
          </a:xfrm>
          <a:prstGeom prst="rect">
            <a:avLst/>
          </a:prstGeom>
          <a:solidFill>
            <a:srgbClr val="D6E4FC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14300" rIns="152400" bIns="101600" rtlCol="0" anchor="ctr"/>
          <a:lstStyle/>
          <a:p>
            <a:pPr algn="ctr"/>
            <a:r>
              <a:rPr lang="pt-BR" sz="1900" b="1">
                <a:solidFill>
                  <a:srgbClr val="000000"/>
                </a:solidFill>
                <a:latin typeface="Arial" panose="020B0604020202020204" pitchFamily="34" charset="0"/>
              </a:rPr>
              <a:t>LARANJA</a:t>
            </a:r>
          </a:p>
          <a:p>
            <a:pPr algn="ctr"/>
            <a:r>
              <a:rPr lang="pt-BR" sz="1500">
                <a:solidFill>
                  <a:srgbClr val="000000"/>
                </a:solidFill>
                <a:latin typeface="Arial" panose="020B0604020202020204" pitchFamily="34" charset="0"/>
              </a:rPr>
              <a:t>Destaques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37E7980-84BF-EA84-5840-87C605C83BA8}"/>
              </a:ext>
            </a:extLst>
          </p:cNvPr>
          <p:cNvSpPr/>
          <p:nvPr/>
        </p:nvSpPr>
        <p:spPr>
          <a:xfrm>
            <a:off x="7048500" y="5080000"/>
            <a:ext cx="4191000" cy="88900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14300" rIns="152400" bIns="101600" rtlCol="0" anchor="ctr"/>
          <a:lstStyle/>
          <a:p>
            <a:pPr algn="ctr"/>
            <a:r>
              <a:rPr lang="pt-BR" sz="1900" b="1">
                <a:solidFill>
                  <a:srgbClr val="000000"/>
                </a:solidFill>
                <a:latin typeface="Arial" panose="020B0604020202020204" pitchFamily="34" charset="0"/>
              </a:rPr>
              <a:t>IDENTIDADE</a:t>
            </a:r>
          </a:p>
          <a:p>
            <a:pPr algn="ctr"/>
            <a:r>
              <a:rPr lang="pt-BR" sz="1500">
                <a:solidFill>
                  <a:srgbClr val="000000"/>
                </a:solidFill>
                <a:latin typeface="Arial" panose="020B0604020202020204" pitchFamily="34" charset="0"/>
              </a:rPr>
              <a:t>Visual limpo, moderno e automotivo</a:t>
            </a:r>
          </a:p>
        </p:txBody>
      </p:sp>
    </p:spTree>
    <p:extLst>
      <p:ext uri="{BB962C8B-B14F-4D97-AF65-F5344CB8AC3E}">
        <p14:creationId xmlns:p14="http://schemas.microsoft.com/office/powerpoint/2010/main" val="607030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9297" y="6293055"/>
            <a:ext cx="327734" cy="365125"/>
          </a:xfrm>
        </p:spPr>
        <p:txBody>
          <a:bodyPr/>
          <a:lstStyle/>
          <a:p>
            <a:r>
              <a:rPr lang="pt-BR"/>
              <a:t>6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A612D8-7EB9-A682-0635-CC04D5E99DF0}"/>
              </a:ext>
            </a:extLst>
          </p:cNvPr>
          <p:cNvSpPr txBox="1"/>
          <p:nvPr/>
        </p:nvSpPr>
        <p:spPr>
          <a:xfrm>
            <a:off x="174443" y="1035345"/>
            <a:ext cx="11672588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0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As decisões de interface foram orientadas pelas heurísticas de Jakob Nielsen.</a:t>
            </a:r>
            <a:endParaRPr lang="pt-BR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7671F15-D39E-C018-350A-8E8763E00C49}"/>
              </a:ext>
            </a:extLst>
          </p:cNvPr>
          <p:cNvSpPr/>
          <p:nvPr/>
        </p:nvSpPr>
        <p:spPr>
          <a:xfrm>
            <a:off x="9260289" y="5401265"/>
            <a:ext cx="194155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b="1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USABILIDADE</a:t>
            </a:r>
            <a:endParaRPr lang="pt-BR" sz="20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" panose="020B0604020202020204" pitchFamily="34" charset="0"/>
            </a:endParaRPr>
          </a:p>
        </p:txBody>
      </p:sp>
      <p:pic>
        <p:nvPicPr>
          <p:cNvPr id="3" name="Gráfico 1">
            <a:extLst>
              <a:ext uri="{FF2B5EF4-FFF2-40B4-BE49-F238E27FC236}">
                <a16:creationId xmlns:a16="http://schemas.microsoft.com/office/drawing/2014/main" id="{115AE12E-9DC0-ADDC-9291-11DF064E5D3C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5576" b="24027"/>
          <a:stretch/>
        </p:blipFill>
        <p:spPr bwMode="auto">
          <a:xfrm>
            <a:off x="0" y="35931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604AE0B8-80D7-30E2-EAA5-6FE801A35A13}"/>
              </a:ext>
            </a:extLst>
          </p:cNvPr>
          <p:cNvGrpSpPr/>
          <p:nvPr/>
        </p:nvGrpSpPr>
        <p:grpSpPr>
          <a:xfrm>
            <a:off x="-3" y="35931"/>
            <a:ext cx="12192003" cy="959139"/>
            <a:chOff x="-3" y="35931"/>
            <a:chExt cx="12192003" cy="959139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9844AA9B-5722-48AC-7676-A7CE37CCF6C9}"/>
                </a:ext>
              </a:extLst>
            </p:cNvPr>
            <p:cNvCxnSpPr/>
            <p:nvPr/>
          </p:nvCxnSpPr>
          <p:spPr>
            <a:xfrm>
              <a:off x="0" y="995070"/>
              <a:ext cx="12192000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E075CE17-A6BA-F95E-B584-9874CC1FA489}"/>
                </a:ext>
              </a:extLst>
            </p:cNvPr>
            <p:cNvGrpSpPr/>
            <p:nvPr/>
          </p:nvGrpSpPr>
          <p:grpSpPr>
            <a:xfrm>
              <a:off x="-3" y="35931"/>
              <a:ext cx="12192000" cy="959139"/>
              <a:chOff x="-3" y="35931"/>
              <a:chExt cx="12192000" cy="959139"/>
            </a:xfrm>
          </p:grpSpPr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55D207EA-299E-C175-3BE8-DF6EE7EE8C43}"/>
                  </a:ext>
                </a:extLst>
              </p:cNvPr>
              <p:cNvSpPr txBox="1"/>
              <p:nvPr/>
            </p:nvSpPr>
            <p:spPr>
              <a:xfrm>
                <a:off x="1854440" y="144759"/>
                <a:ext cx="8218474" cy="658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4. Heurísticas de usabilidade</a:t>
                </a:r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0" name="Gráfico 1">
                <a:extLst>
                  <a:ext uri="{FF2B5EF4-FFF2-40B4-BE49-F238E27FC236}">
                    <a16:creationId xmlns:a16="http://schemas.microsoft.com/office/drawing/2014/main" id="{99B94EDE-5947-1774-F980-3D8D311FC0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t="25576" b="24027"/>
              <a:stretch/>
            </p:blipFill>
            <p:spPr bwMode="auto">
              <a:xfrm>
                <a:off x="0" y="35931"/>
                <a:ext cx="1902467" cy="959139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cxnSp>
            <p:nvCxnSpPr>
              <p:cNvPr id="11" name="Conector reto 10">
                <a:extLst>
                  <a:ext uri="{FF2B5EF4-FFF2-40B4-BE49-F238E27FC236}">
                    <a16:creationId xmlns:a16="http://schemas.microsoft.com/office/drawing/2014/main" id="{92C03F2C-E1A9-E0B8-322A-B469CC60E4A9}"/>
                  </a:ext>
                </a:extLst>
              </p:cNvPr>
              <p:cNvCxnSpPr/>
              <p:nvPr/>
            </p:nvCxnSpPr>
            <p:spPr>
              <a:xfrm>
                <a:off x="-3" y="35931"/>
                <a:ext cx="12192000" cy="0"/>
              </a:xfrm>
              <a:prstGeom prst="line">
                <a:avLst/>
              </a:prstGeom>
              <a:ln w="444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" name="Picture 2" descr="Resultado de imagem para BANDEIRA DO BRASIL">
                <a:extLst>
                  <a:ext uri="{FF2B5EF4-FFF2-40B4-BE49-F238E27FC236}">
                    <a16:creationId xmlns:a16="http://schemas.microsoft.com/office/drawing/2014/main" id="{5DD96264-E98F-DB25-CFDF-AC594A6A5A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13530" y="76023"/>
                <a:ext cx="1455571" cy="9048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C7103187-D77B-CEE7-836C-98437DFDF937}"/>
              </a:ext>
            </a:extLst>
          </p:cNvPr>
          <p:cNvSpPr/>
          <p:nvPr/>
        </p:nvSpPr>
        <p:spPr>
          <a:xfrm>
            <a:off x="1143000" y="2286000"/>
            <a:ext cx="3111500" cy="234950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14300" rIns="152400" bIns="101600" rtlCol="0" anchor="ctr"/>
          <a:lstStyle/>
          <a:p>
            <a:pPr algn="ctr"/>
            <a:r>
              <a:rPr lang="pt-BR" sz="1900" b="1">
                <a:solidFill>
                  <a:srgbClr val="000000"/>
                </a:solidFill>
                <a:latin typeface="Arial" panose="020B0604020202020204" pitchFamily="34" charset="0"/>
              </a:rPr>
              <a:t>VISIBILIDADE</a:t>
            </a:r>
          </a:p>
          <a:p>
            <a:pPr algn="ctr"/>
            <a:r>
              <a:rPr lang="pt-BR" sz="1500">
                <a:solidFill>
                  <a:srgbClr val="000000"/>
                </a:solidFill>
                <a:latin typeface="Arial" panose="020B0604020202020204" pitchFamily="34" charset="0"/>
              </a:rPr>
              <a:t>Mensagens de carregamento, sucesso e erro informam o resultado das ações.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0949BE9-1E98-7D80-165F-10FDC0D5086A}"/>
              </a:ext>
            </a:extLst>
          </p:cNvPr>
          <p:cNvSpPr/>
          <p:nvPr/>
        </p:nvSpPr>
        <p:spPr>
          <a:xfrm>
            <a:off x="4572000" y="2286000"/>
            <a:ext cx="3111500" cy="234950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14300" rIns="152400" bIns="101600" rtlCol="0" anchor="ctr"/>
          <a:lstStyle/>
          <a:p>
            <a:pPr algn="ctr"/>
            <a:r>
              <a:rPr lang="pt-BR" sz="1900" b="1">
                <a:solidFill>
                  <a:srgbClr val="000000"/>
                </a:solidFill>
                <a:latin typeface="Arial" panose="020B0604020202020204" pitchFamily="34" charset="0"/>
              </a:rPr>
              <a:t>CONSISTÊNCIA</a:t>
            </a:r>
          </a:p>
          <a:p>
            <a:pPr algn="ctr"/>
            <a:r>
              <a:rPr lang="pt-BR" sz="1500">
                <a:solidFill>
                  <a:srgbClr val="000000"/>
                </a:solidFill>
                <a:latin typeface="Arial" panose="020B0604020202020204" pitchFamily="34" charset="0"/>
              </a:rPr>
              <a:t>Botões, cores, títulos e navegação mantêm o mesmo padrão entre as telas.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5051357-F483-DE05-0419-0628D0A1C9E2}"/>
              </a:ext>
            </a:extLst>
          </p:cNvPr>
          <p:cNvSpPr/>
          <p:nvPr/>
        </p:nvSpPr>
        <p:spPr>
          <a:xfrm>
            <a:off x="8001000" y="2286000"/>
            <a:ext cx="3111500" cy="234950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14300" rIns="152400" bIns="101600" rtlCol="0" anchor="ctr"/>
          <a:lstStyle/>
          <a:p>
            <a:pPr algn="ctr"/>
            <a:r>
              <a:rPr lang="pt-BR" sz="1900" b="1">
                <a:solidFill>
                  <a:srgbClr val="000000"/>
                </a:solidFill>
                <a:latin typeface="Arial" panose="020B0604020202020204" pitchFamily="34" charset="0"/>
              </a:rPr>
              <a:t>PREVENÇÃO DE ERROS</a:t>
            </a:r>
          </a:p>
          <a:p>
            <a:pPr algn="ctr"/>
            <a:r>
              <a:rPr lang="pt-BR" sz="1500">
                <a:solidFill>
                  <a:srgbClr val="000000"/>
                </a:solidFill>
                <a:latin typeface="Arial" panose="020B0604020202020204" pitchFamily="34" charset="0"/>
              </a:rPr>
              <a:t>Validações impedem campos vazios, datas inválidas e acesso sem autenticação.</a:t>
            </a:r>
          </a:p>
        </p:txBody>
      </p:sp>
    </p:spTree>
    <p:extLst>
      <p:ext uri="{BB962C8B-B14F-4D97-AF65-F5344CB8AC3E}">
        <p14:creationId xmlns:p14="http://schemas.microsoft.com/office/powerpoint/2010/main" val="3082690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9297" y="6293055"/>
            <a:ext cx="327734" cy="365125"/>
          </a:xfrm>
        </p:spPr>
        <p:txBody>
          <a:bodyPr/>
          <a:lstStyle/>
          <a:p>
            <a:r>
              <a:rPr lang="pt-BR"/>
              <a:t>7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40BB58-2BF8-DEFF-4C51-BBEA0F955F27}"/>
              </a:ext>
            </a:extLst>
          </p:cNvPr>
          <p:cNvSpPr txBox="1"/>
          <p:nvPr/>
        </p:nvSpPr>
        <p:spPr>
          <a:xfrm>
            <a:off x="259706" y="1269751"/>
            <a:ext cx="9947984" cy="51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>
                <a:latin typeface="Arial" panose="020B0604020202020204" pitchFamily="34" charset="0"/>
                <a:cs typeface="Arial" panose="020B0604020202020204" pitchFamily="34" charset="0"/>
              </a:rPr>
              <a:t>Fluxo principal executado pelo usuário no aplicativo:</a:t>
            </a:r>
            <a:endParaRPr lang="pt-BR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áfico 1">
            <a:extLst>
              <a:ext uri="{FF2B5EF4-FFF2-40B4-BE49-F238E27FC236}">
                <a16:creationId xmlns:a16="http://schemas.microsoft.com/office/drawing/2014/main" id="{51160866-30E6-F3E8-8614-03F6C5A88C8E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5576" b="24027"/>
          <a:stretch/>
        </p:blipFill>
        <p:spPr bwMode="auto">
          <a:xfrm>
            <a:off x="0" y="35931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730E0329-7D43-DE8A-F469-63DBA0D6827C}"/>
              </a:ext>
            </a:extLst>
          </p:cNvPr>
          <p:cNvGrpSpPr/>
          <p:nvPr/>
        </p:nvGrpSpPr>
        <p:grpSpPr>
          <a:xfrm>
            <a:off x="-3" y="35931"/>
            <a:ext cx="12192003" cy="959139"/>
            <a:chOff x="-3" y="35931"/>
            <a:chExt cx="12192003" cy="959139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DECB7564-FD8D-0798-50B2-BFCD80BFA812}"/>
                </a:ext>
              </a:extLst>
            </p:cNvPr>
            <p:cNvCxnSpPr/>
            <p:nvPr/>
          </p:nvCxnSpPr>
          <p:spPr>
            <a:xfrm>
              <a:off x="0" y="995070"/>
              <a:ext cx="12192000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DD8C525F-0308-D7ED-8487-CD4C1FA7F26C}"/>
                </a:ext>
              </a:extLst>
            </p:cNvPr>
            <p:cNvGrpSpPr/>
            <p:nvPr/>
          </p:nvGrpSpPr>
          <p:grpSpPr>
            <a:xfrm>
              <a:off x="-3" y="35931"/>
              <a:ext cx="12192000" cy="959139"/>
              <a:chOff x="-3" y="35931"/>
              <a:chExt cx="12192000" cy="959139"/>
            </a:xfrm>
          </p:grpSpPr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C7CFB169-0405-053C-54A6-A3E07F03E935}"/>
                  </a:ext>
                </a:extLst>
              </p:cNvPr>
              <p:cNvSpPr txBox="1"/>
              <p:nvPr/>
            </p:nvSpPr>
            <p:spPr>
              <a:xfrm>
                <a:off x="1854440" y="144759"/>
                <a:ext cx="7129903" cy="658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5. Interfaces e fluxo principal</a:t>
                </a:r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0" name="Gráfico 1">
                <a:extLst>
                  <a:ext uri="{FF2B5EF4-FFF2-40B4-BE49-F238E27FC236}">
                    <a16:creationId xmlns:a16="http://schemas.microsoft.com/office/drawing/2014/main" id="{CFE00A04-7840-CFBB-0316-411609779A3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t="25576" b="24027"/>
              <a:stretch/>
            </p:blipFill>
            <p:spPr bwMode="auto">
              <a:xfrm>
                <a:off x="0" y="35931"/>
                <a:ext cx="1902467" cy="959139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cxnSp>
            <p:nvCxnSpPr>
              <p:cNvPr id="11" name="Conector reto 10">
                <a:extLst>
                  <a:ext uri="{FF2B5EF4-FFF2-40B4-BE49-F238E27FC236}">
                    <a16:creationId xmlns:a16="http://schemas.microsoft.com/office/drawing/2014/main" id="{121C9D83-2796-F580-9D6F-3EB53893182A}"/>
                  </a:ext>
                </a:extLst>
              </p:cNvPr>
              <p:cNvCxnSpPr/>
              <p:nvPr/>
            </p:nvCxnSpPr>
            <p:spPr>
              <a:xfrm>
                <a:off x="-3" y="35931"/>
                <a:ext cx="12192000" cy="0"/>
              </a:xfrm>
              <a:prstGeom prst="line">
                <a:avLst/>
              </a:prstGeom>
              <a:ln w="444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" name="Picture 2" descr="Resultado de imagem para BANDEIRA DO BRASIL">
                <a:extLst>
                  <a:ext uri="{FF2B5EF4-FFF2-40B4-BE49-F238E27FC236}">
                    <a16:creationId xmlns:a16="http://schemas.microsoft.com/office/drawing/2014/main" id="{27E72AAD-3349-A69A-1D49-A8295ECF97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99675" y="76023"/>
                <a:ext cx="1455571" cy="9048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72EBF210-5952-FAEF-AB9B-96B7B0E45513}"/>
              </a:ext>
            </a:extLst>
          </p:cNvPr>
          <p:cNvSpPr/>
          <p:nvPr/>
        </p:nvSpPr>
        <p:spPr>
          <a:xfrm>
            <a:off x="825500" y="2603500"/>
            <a:ext cx="2476500" cy="215900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14300" rIns="152400" bIns="101600" rtlCol="0" anchor="ctr"/>
          <a:lstStyle/>
          <a:p>
            <a:pPr algn="ctr"/>
            <a:r>
              <a:rPr lang="pt-BR" sz="1900" b="1">
                <a:solidFill>
                  <a:srgbClr val="000000"/>
                </a:solidFill>
                <a:latin typeface="Arial" panose="020B0604020202020204" pitchFamily="34" charset="0"/>
              </a:rPr>
              <a:t>1. CADASTRO / LOGIN</a:t>
            </a:r>
          </a:p>
          <a:p>
            <a:pPr algn="ctr"/>
            <a:r>
              <a:rPr lang="pt-BR" sz="1500">
                <a:solidFill>
                  <a:srgbClr val="000000"/>
                </a:solidFill>
                <a:latin typeface="Arial" panose="020B0604020202020204" pitchFamily="34" charset="0"/>
              </a:rPr>
              <a:t>Criação da conta e autenticação segura.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085DF21-E543-81EB-27E5-001ECA127686}"/>
              </a:ext>
            </a:extLst>
          </p:cNvPr>
          <p:cNvSpPr/>
          <p:nvPr/>
        </p:nvSpPr>
        <p:spPr>
          <a:xfrm>
            <a:off x="3619500" y="2603500"/>
            <a:ext cx="2476500" cy="215900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14300" rIns="152400" bIns="101600" rtlCol="0" anchor="ctr"/>
          <a:lstStyle/>
          <a:p>
            <a:pPr algn="ctr"/>
            <a:r>
              <a:rPr lang="pt-BR" sz="1900" b="1">
                <a:solidFill>
                  <a:srgbClr val="000000"/>
                </a:solidFill>
                <a:latin typeface="Arial" panose="020B0604020202020204" pitchFamily="34" charset="0"/>
              </a:rPr>
              <a:t>2. EMPRESAS</a:t>
            </a:r>
          </a:p>
          <a:p>
            <a:pPr algn="ctr"/>
            <a:r>
              <a:rPr lang="pt-BR" sz="1500">
                <a:solidFill>
                  <a:srgbClr val="000000"/>
                </a:solidFill>
                <a:latin typeface="Arial" panose="020B0604020202020204" pitchFamily="34" charset="0"/>
              </a:rPr>
              <a:t>Consulta das empresas disponíveis.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03EEBEA-6D3A-3D3B-ACB0-DBDBAF6277CD}"/>
              </a:ext>
            </a:extLst>
          </p:cNvPr>
          <p:cNvSpPr/>
          <p:nvPr/>
        </p:nvSpPr>
        <p:spPr>
          <a:xfrm>
            <a:off x="6413500" y="2603500"/>
            <a:ext cx="2476500" cy="215900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14300" rIns="152400" bIns="101600" rtlCol="0" anchor="ctr"/>
          <a:lstStyle/>
          <a:p>
            <a:pPr algn="ctr"/>
            <a:r>
              <a:rPr lang="pt-BR" sz="1900" b="1">
                <a:solidFill>
                  <a:srgbClr val="000000"/>
                </a:solidFill>
                <a:latin typeface="Arial" panose="020B0604020202020204" pitchFamily="34" charset="0"/>
              </a:rPr>
              <a:t>3. SERVIÇOS</a:t>
            </a:r>
          </a:p>
          <a:p>
            <a:pPr algn="ctr"/>
            <a:r>
              <a:rPr lang="pt-BR" sz="1500">
                <a:solidFill>
                  <a:srgbClr val="000000"/>
                </a:solidFill>
                <a:latin typeface="Arial" panose="020B0604020202020204" pitchFamily="34" charset="0"/>
              </a:rPr>
              <a:t>Escolha do serviço e horário.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5020CD5-5E56-3A89-E717-68E8064FCFD8}"/>
              </a:ext>
            </a:extLst>
          </p:cNvPr>
          <p:cNvSpPr/>
          <p:nvPr/>
        </p:nvSpPr>
        <p:spPr>
          <a:xfrm>
            <a:off x="9207500" y="2603500"/>
            <a:ext cx="2476500" cy="215900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14300" rIns="152400" bIns="101600" rtlCol="0" anchor="ctr"/>
          <a:lstStyle/>
          <a:p>
            <a:pPr algn="ctr"/>
            <a:r>
              <a:rPr lang="pt-BR" sz="1900" b="1">
                <a:solidFill>
                  <a:srgbClr val="000000"/>
                </a:solidFill>
                <a:latin typeface="Arial" panose="020B0604020202020204" pitchFamily="34" charset="0"/>
              </a:rPr>
              <a:t>4. AGENDAMENTO</a:t>
            </a:r>
          </a:p>
          <a:p>
            <a:pPr algn="ctr"/>
            <a:r>
              <a:rPr lang="pt-BR" sz="1500">
                <a:solidFill>
                  <a:srgbClr val="000000"/>
                </a:solidFill>
                <a:latin typeface="Arial" panose="020B0604020202020204" pitchFamily="34" charset="0"/>
              </a:rPr>
              <a:t>Confirmação e acompanhamento.</a:t>
            </a:r>
          </a:p>
        </p:txBody>
      </p:sp>
    </p:spTree>
    <p:extLst>
      <p:ext uri="{BB962C8B-B14F-4D97-AF65-F5344CB8AC3E}">
        <p14:creationId xmlns:p14="http://schemas.microsoft.com/office/powerpoint/2010/main" val="4082250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293055"/>
            <a:ext cx="417031" cy="365125"/>
          </a:xfrm>
        </p:spPr>
        <p:txBody>
          <a:bodyPr/>
          <a:lstStyle/>
          <a:p>
            <a:r>
              <a:rPr lang="pt-BR"/>
              <a:t>8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1F21B08-3EFE-35AB-DB60-7BD3DD1AC57C}"/>
              </a:ext>
            </a:extLst>
          </p:cNvPr>
          <p:cNvSpPr txBox="1"/>
          <p:nvPr/>
        </p:nvSpPr>
        <p:spPr>
          <a:xfrm>
            <a:off x="257166" y="1082174"/>
            <a:ext cx="11170294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>
                <a:latin typeface="Arial" panose="020B0604020202020204" pitchFamily="34" charset="0"/>
                <a:ea typeface="Arial" panose="020B0604020202020204" pitchFamily="34" charset="0"/>
              </a:rPr>
              <a:t>O PostgreSQL no Supabase mantém usuários, empresas, endereços, serviços, horários, agendamentos, favoritos e avaliações. Chaves estrangeiras e índices garantem integridade e desempenho.</a:t>
            </a:r>
            <a:endParaRPr lang="pt-BR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8C23A7B-DC32-9591-9B99-FFE1E17B9412}"/>
              </a:ext>
            </a:extLst>
          </p:cNvPr>
          <p:cNvSpPr/>
          <p:nvPr/>
        </p:nvSpPr>
        <p:spPr>
          <a:xfrm>
            <a:off x="3239564" y="5144086"/>
            <a:ext cx="1658660" cy="4154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100" b="1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SUPABASE</a:t>
            </a:r>
            <a:endParaRPr lang="pt-BR" sz="21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" panose="020B0604020202020204" pitchFamily="34" charset="0"/>
            </a:endParaRPr>
          </a:p>
        </p:txBody>
      </p:sp>
      <p:pic>
        <p:nvPicPr>
          <p:cNvPr id="3" name="Gráfico 1">
            <a:extLst>
              <a:ext uri="{FF2B5EF4-FFF2-40B4-BE49-F238E27FC236}">
                <a16:creationId xmlns:a16="http://schemas.microsoft.com/office/drawing/2014/main" id="{C074ACA6-17A8-CF2C-3F4B-5CF2C8843B21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5576" b="24027"/>
          <a:stretch/>
        </p:blipFill>
        <p:spPr bwMode="auto">
          <a:xfrm>
            <a:off x="0" y="35931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62219655-42AC-DCF5-4270-52FA472B6EE5}"/>
              </a:ext>
            </a:extLst>
          </p:cNvPr>
          <p:cNvGrpSpPr/>
          <p:nvPr/>
        </p:nvGrpSpPr>
        <p:grpSpPr>
          <a:xfrm>
            <a:off x="-3" y="35931"/>
            <a:ext cx="12192003" cy="959139"/>
            <a:chOff x="-3" y="35931"/>
            <a:chExt cx="12192003" cy="959139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56CB5C19-DF5B-37C7-24CA-E83B03C32F28}"/>
                </a:ext>
              </a:extLst>
            </p:cNvPr>
            <p:cNvCxnSpPr/>
            <p:nvPr/>
          </p:nvCxnSpPr>
          <p:spPr>
            <a:xfrm>
              <a:off x="0" y="995070"/>
              <a:ext cx="12192000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B594F4A5-EBF7-9E6D-485A-6458611A1614}"/>
                </a:ext>
              </a:extLst>
            </p:cNvPr>
            <p:cNvGrpSpPr/>
            <p:nvPr/>
          </p:nvGrpSpPr>
          <p:grpSpPr>
            <a:xfrm>
              <a:off x="-3" y="35931"/>
              <a:ext cx="12192000" cy="959139"/>
              <a:chOff x="-3" y="35931"/>
              <a:chExt cx="12192000" cy="959139"/>
            </a:xfrm>
          </p:grpSpPr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64B04326-238F-5273-0444-1369050437A7}"/>
                  </a:ext>
                </a:extLst>
              </p:cNvPr>
              <p:cNvSpPr txBox="1"/>
              <p:nvPr/>
            </p:nvSpPr>
            <p:spPr>
              <a:xfrm>
                <a:off x="1854440" y="144759"/>
                <a:ext cx="7333103" cy="658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6. Banco de dados e relacionamentos</a:t>
                </a:r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Gráfico 1">
                <a:extLst>
                  <a:ext uri="{FF2B5EF4-FFF2-40B4-BE49-F238E27FC236}">
                    <a16:creationId xmlns:a16="http://schemas.microsoft.com/office/drawing/2014/main" id="{C11887CE-7749-B7F0-9936-35DDA287D3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t="25576" b="24027"/>
              <a:stretch/>
            </p:blipFill>
            <p:spPr bwMode="auto">
              <a:xfrm>
                <a:off x="0" y="35931"/>
                <a:ext cx="1902467" cy="959139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cxnSp>
            <p:nvCxnSpPr>
              <p:cNvPr id="12" name="Conector reto 11">
                <a:extLst>
                  <a:ext uri="{FF2B5EF4-FFF2-40B4-BE49-F238E27FC236}">
                    <a16:creationId xmlns:a16="http://schemas.microsoft.com/office/drawing/2014/main" id="{53B60193-CF1D-6E7F-8464-53EB6EE2ECCE}"/>
                  </a:ext>
                </a:extLst>
              </p:cNvPr>
              <p:cNvCxnSpPr/>
              <p:nvPr/>
            </p:nvCxnSpPr>
            <p:spPr>
              <a:xfrm>
                <a:off x="-3" y="35931"/>
                <a:ext cx="12192000" cy="0"/>
              </a:xfrm>
              <a:prstGeom prst="line">
                <a:avLst/>
              </a:prstGeom>
              <a:ln w="444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3" name="Picture 2" descr="Resultado de imagem para BANDEIRA DO BRASIL">
                <a:extLst>
                  <a:ext uri="{FF2B5EF4-FFF2-40B4-BE49-F238E27FC236}">
                    <a16:creationId xmlns:a16="http://schemas.microsoft.com/office/drawing/2014/main" id="{34625BE6-F97A-57A6-3B33-1BFEC23F436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99675" y="76023"/>
                <a:ext cx="1455571" cy="9048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14" name="Imagem 13">
            <a:extLst>
              <a:ext uri="{FF2B5EF4-FFF2-40B4-BE49-F238E27FC236}">
                <a16:creationId xmlns:a16="http://schemas.microsoft.com/office/drawing/2014/main" id="{ADC5A3F2-6559-973C-9235-A6E5916BA2D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554" y="1482439"/>
            <a:ext cx="5053692" cy="5342117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DAB087FF-9A40-AE20-6770-F5EABDCBF1B5}"/>
              </a:ext>
            </a:extLst>
          </p:cNvPr>
          <p:cNvSpPr txBox="1"/>
          <p:nvPr/>
        </p:nvSpPr>
        <p:spPr>
          <a:xfrm>
            <a:off x="355600" y="2032000"/>
            <a:ext cx="6350000" cy="30162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900" b="1">
                <a:latin typeface="Arial" panose="020B0604020202020204" pitchFamily="34" charset="0"/>
              </a:rPr>
              <a:t>ARQUITETURA</a:t>
            </a:r>
          </a:p>
          <a:p>
            <a:endParaRPr lang="pt-BR" sz="1900">
              <a:latin typeface="Arial" panose="020B0604020202020204" pitchFamily="34" charset="0"/>
            </a:endParaRPr>
          </a:p>
          <a:p>
            <a:r>
              <a:rPr lang="pt-BR" sz="1900">
                <a:latin typeface="Arial" panose="020B0604020202020204" pitchFamily="34" charset="0"/>
              </a:rPr>
              <a:t>Android Kotlin/XML</a:t>
            </a:r>
          </a:p>
          <a:p>
            <a:r>
              <a:rPr lang="pt-BR" sz="1900">
                <a:latin typeface="Arial" panose="020B0604020202020204" pitchFamily="34" charset="0"/>
              </a:rPr>
              <a:t>        ↓ Retrofit + HTTPS</a:t>
            </a:r>
          </a:p>
          <a:p>
            <a:r>
              <a:rPr lang="pt-BR" sz="1900">
                <a:latin typeface="Arial" panose="020B0604020202020204" pitchFamily="34" charset="0"/>
              </a:rPr>
              <a:t>API Spring Boot + JWT</a:t>
            </a:r>
          </a:p>
          <a:p>
            <a:r>
              <a:rPr lang="pt-BR" sz="1900">
                <a:latin typeface="Arial" panose="020B0604020202020204" pitchFamily="34" charset="0"/>
              </a:rPr>
              <a:t>        ↓ JPA / JDBC</a:t>
            </a:r>
          </a:p>
          <a:p>
            <a:r>
              <a:rPr lang="pt-BR" sz="1900">
                <a:latin typeface="Arial" panose="020B0604020202020204" pitchFamily="34" charset="0"/>
              </a:rPr>
              <a:t>PostgreSQL no Supabase</a:t>
            </a:r>
          </a:p>
          <a:p>
            <a:endParaRPr lang="pt-BR" sz="1900">
              <a:latin typeface="Arial" panose="020B0604020202020204" pitchFamily="34" charset="0"/>
            </a:endParaRPr>
          </a:p>
          <a:p>
            <a:r>
              <a:rPr lang="pt-BR" sz="1900">
                <a:latin typeface="Arial" panose="020B0604020202020204" pitchFamily="34" charset="0"/>
              </a:rPr>
              <a:t>A API está hospedada no Render e o Android não acessa o banco diretamente.</a:t>
            </a:r>
            <a:endParaRPr lang="pt-BR" sz="19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828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7534" y="6293055"/>
            <a:ext cx="469497" cy="365125"/>
          </a:xfrm>
        </p:spPr>
        <p:txBody>
          <a:bodyPr/>
          <a:lstStyle/>
          <a:p>
            <a:r>
              <a:rPr lang="pt-BR"/>
              <a:t>9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B17744E-FD8D-07B7-3F71-2B7E7CFE95B7}"/>
              </a:ext>
            </a:extLst>
          </p:cNvPr>
          <p:cNvSpPr txBox="1"/>
          <p:nvPr/>
        </p:nvSpPr>
        <p:spPr>
          <a:xfrm>
            <a:off x="302337" y="1035162"/>
            <a:ext cx="11587325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>
                <a:latin typeface="Arial" panose="020B0604020202020204" pitchFamily="34" charset="0"/>
                <a:ea typeface="Arial" panose="020B0604020202020204" pitchFamily="34" charset="0"/>
              </a:rPr>
              <a:t>Foram verificados cadastro, login, geração de token JWT, perfil, criação/listagem/cancelamento de agendamentos e respostas para erros comuns.</a:t>
            </a:r>
            <a:endParaRPr lang="pt-BR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EC353EE-2452-22FE-5DBC-15EA0FE29242}"/>
              </a:ext>
            </a:extLst>
          </p:cNvPr>
          <p:cNvSpPr/>
          <p:nvPr/>
        </p:nvSpPr>
        <p:spPr>
          <a:xfrm>
            <a:off x="9329683" y="5361174"/>
            <a:ext cx="2739982" cy="3847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900" b="1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TESTES APROVADOS</a:t>
            </a:r>
            <a:endParaRPr lang="pt-BR" sz="19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" panose="020B0604020202020204" pitchFamily="34" charset="0"/>
            </a:endParaRPr>
          </a:p>
        </p:txBody>
      </p:sp>
      <p:pic>
        <p:nvPicPr>
          <p:cNvPr id="3" name="Gráfico 1">
            <a:extLst>
              <a:ext uri="{FF2B5EF4-FFF2-40B4-BE49-F238E27FC236}">
                <a16:creationId xmlns:a16="http://schemas.microsoft.com/office/drawing/2014/main" id="{1C3EADCD-166E-C046-8486-B6FC05DC80AF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5576" b="24027"/>
          <a:stretch/>
        </p:blipFill>
        <p:spPr bwMode="auto">
          <a:xfrm>
            <a:off x="0" y="35931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374EEBFA-6DE9-B53B-5D04-0B86B28C5DB1}"/>
              </a:ext>
            </a:extLst>
          </p:cNvPr>
          <p:cNvGrpSpPr/>
          <p:nvPr/>
        </p:nvGrpSpPr>
        <p:grpSpPr>
          <a:xfrm>
            <a:off x="-3" y="35931"/>
            <a:ext cx="12192003" cy="959139"/>
            <a:chOff x="-3" y="35931"/>
            <a:chExt cx="12192003" cy="959139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E4921F3D-9790-92E0-6D75-02C2ABBC6C5D}"/>
                </a:ext>
              </a:extLst>
            </p:cNvPr>
            <p:cNvCxnSpPr/>
            <p:nvPr/>
          </p:nvCxnSpPr>
          <p:spPr>
            <a:xfrm>
              <a:off x="0" y="995070"/>
              <a:ext cx="12192000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A1DDA15C-CA5F-7010-2436-44F862077268}"/>
                </a:ext>
              </a:extLst>
            </p:cNvPr>
            <p:cNvGrpSpPr/>
            <p:nvPr/>
          </p:nvGrpSpPr>
          <p:grpSpPr>
            <a:xfrm>
              <a:off x="-3" y="35931"/>
              <a:ext cx="12192000" cy="959139"/>
              <a:chOff x="-3" y="35931"/>
              <a:chExt cx="12192000" cy="959139"/>
            </a:xfrm>
          </p:grpSpPr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1E423CE-8BAC-C9F1-3B64-FA80F633A41F}"/>
                  </a:ext>
                </a:extLst>
              </p:cNvPr>
              <p:cNvSpPr txBox="1"/>
              <p:nvPr/>
            </p:nvSpPr>
            <p:spPr>
              <a:xfrm>
                <a:off x="1854440" y="144759"/>
                <a:ext cx="7544393" cy="658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7. Testes e resultados</a:t>
                </a:r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9" name="Gráfico 1">
                <a:extLst>
                  <a:ext uri="{FF2B5EF4-FFF2-40B4-BE49-F238E27FC236}">
                    <a16:creationId xmlns:a16="http://schemas.microsoft.com/office/drawing/2014/main" id="{2D99DEEC-6707-06A1-61FA-B1610C1DA7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t="25576" b="24027"/>
              <a:stretch/>
            </p:blipFill>
            <p:spPr bwMode="auto">
              <a:xfrm>
                <a:off x="0" y="35931"/>
                <a:ext cx="1902467" cy="959139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cxnSp>
            <p:nvCxnSpPr>
              <p:cNvPr id="10" name="Conector reto 9">
                <a:extLst>
                  <a:ext uri="{FF2B5EF4-FFF2-40B4-BE49-F238E27FC236}">
                    <a16:creationId xmlns:a16="http://schemas.microsoft.com/office/drawing/2014/main" id="{BE2F097A-38DD-05B7-72C4-61B96A629BD8}"/>
                  </a:ext>
                </a:extLst>
              </p:cNvPr>
              <p:cNvCxnSpPr/>
              <p:nvPr/>
            </p:nvCxnSpPr>
            <p:spPr>
              <a:xfrm>
                <a:off x="-3" y="35931"/>
                <a:ext cx="12192000" cy="0"/>
              </a:xfrm>
              <a:prstGeom prst="line">
                <a:avLst/>
              </a:prstGeom>
              <a:ln w="444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" name="Picture 2" descr="Resultado de imagem para BANDEIRA DO BRASIL">
                <a:extLst>
                  <a:ext uri="{FF2B5EF4-FFF2-40B4-BE49-F238E27FC236}">
                    <a16:creationId xmlns:a16="http://schemas.microsoft.com/office/drawing/2014/main" id="{D73BCA6F-A665-9E3A-3DF1-187BD83DCA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99675" y="76023"/>
                <a:ext cx="1455571" cy="9048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B87E1934-9DCA-8025-F8A6-A454030B3FB3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36" y="3285196"/>
            <a:ext cx="6258046" cy="139653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52B2026-61CE-134E-59B4-F022F6181C2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383" y="1762732"/>
            <a:ext cx="5676900" cy="3867150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E002C424-781B-3FC5-4AC3-3945D3C09F23}"/>
              </a:ext>
            </a:extLst>
          </p:cNvPr>
          <p:cNvSpPr txBox="1"/>
          <p:nvPr/>
        </p:nvSpPr>
        <p:spPr>
          <a:xfrm>
            <a:off x="444500" y="6032500"/>
            <a:ext cx="7937500" cy="8771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700" b="1">
                <a:latin typeface="Arial" panose="020B0604020202020204" pitchFamily="34" charset="0"/>
              </a:rPr>
              <a:t>Resultados: backend compilado com Maven, testes automatizados aprovados, APK Android gerado e API online respondendo HTTP 200. Rotas protegidas rejeitam token inválido com HTTP 401.</a:t>
            </a:r>
            <a:endParaRPr lang="pt-BR" sz="17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4846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7591</TotalTime>
  <Words>546</Words>
  <Application>Microsoft Office PowerPoint</Application>
  <PresentationFormat>Widescreen</PresentationFormat>
  <Paragraphs>98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Josias</dc:creator>
  <cp:lastModifiedBy>Matheus Foganholi</cp:lastModifiedBy>
  <cp:revision>256</cp:revision>
  <cp:lastPrinted>2020-08-25T21:04:28Z</cp:lastPrinted>
  <dcterms:created xsi:type="dcterms:W3CDTF">2017-10-21T18:20:41Z</dcterms:created>
  <dcterms:modified xsi:type="dcterms:W3CDTF">2026-06-12T23:02:27Z</dcterms:modified>
</cp:coreProperties>
</file>